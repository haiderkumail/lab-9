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Abadi" panose="020B0604020104020204" pitchFamily="34" charset="0"/>
      <p:regular r:id="rId12"/>
    </p:embeddedFont>
    <p:embeddedFont>
      <p:font typeface="ADLaM Display" panose="02010000000000000000" pitchFamily="2" charset="0"/>
      <p:regular r:id="rId13"/>
    </p:embeddedFont>
    <p:embeddedFont>
      <p:font typeface="Cabin"/>
      <p:regular r:id="rId14"/>
    </p:embeddedFont>
    <p:embeddedFont>
      <p:font typeface="Unbounded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8334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1711881"/>
            <a:ext cx="7468553" cy="2914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7650"/>
              </a:lnSpc>
              <a:buNone/>
            </a:pPr>
            <a:r>
              <a:rPr lang="en-US" sz="6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Preprocessing Techniques for AI</a:t>
            </a:r>
            <a:endParaRPr lang="en-US" sz="6100" dirty="0"/>
          </a:p>
        </p:txBody>
      </p:sp>
      <p:sp>
        <p:nvSpPr>
          <p:cNvPr id="4" name="Text 1"/>
          <p:cNvSpPr/>
          <p:nvPr/>
        </p:nvSpPr>
        <p:spPr>
          <a:xfrm>
            <a:off x="6324124" y="4219456"/>
            <a:ext cx="746855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Abadi" panose="020F0502020204030204" pitchFamily="34" charset="0"/>
                <a:ea typeface="Cabin" pitchFamily="34" charset="-122"/>
                <a:cs typeface="Cabin" pitchFamily="34" charset="-120"/>
              </a:rPr>
              <a:t>Preprocessing is a crucial step in the AI pipeline, transforming raw data into a format that can be effectively used by machine learning models. These techniques help improve model performance and ensure accurate, unbiased results.</a:t>
            </a:r>
            <a:endParaRPr lang="en-US" sz="1850" dirty="0">
              <a:latin typeface="Abad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D10A1C-9677-B540-FCD2-C872C7C86B82}"/>
              </a:ext>
            </a:extLst>
          </p:cNvPr>
          <p:cNvSpPr txBox="1"/>
          <p:nvPr/>
        </p:nvSpPr>
        <p:spPr>
          <a:xfrm>
            <a:off x="6324124" y="6876573"/>
            <a:ext cx="53748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Presented By:  Kumail Haider  (2022-CS-23)</a:t>
            </a:r>
          </a:p>
          <a:p>
            <a:r>
              <a:rPr lang="en-US" dirty="0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Instructor:        Numan Shafi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294215"/>
            <a:ext cx="10708124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Binning: Grouping Numeric Data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596521"/>
            <a:ext cx="2885361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Binning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4187785"/>
            <a:ext cx="3928586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Binning divides a continuous numeric feature into a set of discrete bins or ranges. This helps reduce the influence of outliers and noise in the data.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5357813" y="359652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Use Cases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57813" y="4187785"/>
            <a:ext cx="3928586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Binning is useful for handling skewed distributions, encoding categorical variables, and preparing data for visualization and analysis.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9877901" y="359652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Implementation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7901" y="4187785"/>
            <a:ext cx="3928586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Bin edges can be determined using equal-width, equal-frequency, or custom methods based on domain knowledge.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4195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7466" y="3106341"/>
            <a:ext cx="13275469" cy="1138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450"/>
              </a:lnSpc>
              <a:buNone/>
            </a:pPr>
            <a:r>
              <a:rPr lang="en-US" sz="35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Logarithmic Transformation: Handling Skewed Distributions</a:t>
            </a:r>
            <a:endParaRPr lang="en-US" sz="3550" dirty="0"/>
          </a:p>
        </p:txBody>
      </p:sp>
      <p:sp>
        <p:nvSpPr>
          <p:cNvPr id="4" name="Shape 1"/>
          <p:cNvSpPr/>
          <p:nvPr/>
        </p:nvSpPr>
        <p:spPr>
          <a:xfrm>
            <a:off x="677466" y="4535091"/>
            <a:ext cx="6541056" cy="1407081"/>
          </a:xfrm>
          <a:prstGeom prst="roundRect">
            <a:avLst>
              <a:gd name="adj" fmla="val 2064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870942" y="4728567"/>
            <a:ext cx="2790349" cy="284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Skewness Challenge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870942" y="5129332"/>
            <a:ext cx="6154103" cy="619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Abadi" panose="020B0604020104020204" pitchFamily="34" charset="0"/>
                <a:ea typeface="Cabin" pitchFamily="34" charset="-122"/>
                <a:cs typeface="Cabin" pitchFamily="34" charset="-120"/>
              </a:rPr>
              <a:t>Many real-world datasets exhibit skewed distributions, which can negatively impact model performance.</a:t>
            </a:r>
            <a:endParaRPr lang="en-US" sz="1500" dirty="0">
              <a:latin typeface="Abadi" panose="020B060402010402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411998" y="4535091"/>
            <a:ext cx="6541056" cy="1407081"/>
          </a:xfrm>
          <a:prstGeom prst="roundRect">
            <a:avLst>
              <a:gd name="adj" fmla="val 2064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605474" y="4728567"/>
            <a:ext cx="3848457" cy="284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Logarithmic Transformation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605474" y="5129332"/>
            <a:ext cx="6154103" cy="619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This technique applies the natural logarithm function to the data, reducing skewness and bringing the distribution closer to normal.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77466" y="6135648"/>
            <a:ext cx="6541056" cy="1407081"/>
          </a:xfrm>
          <a:prstGeom prst="roundRect">
            <a:avLst>
              <a:gd name="adj" fmla="val 2064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70942" y="6329124"/>
            <a:ext cx="2592943" cy="284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Improved Modeling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870942" y="6729889"/>
            <a:ext cx="6154103" cy="619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Abadi" panose="020B0604020104020204" pitchFamily="34" charset="0"/>
                <a:ea typeface="Cabin" pitchFamily="34" charset="-122"/>
                <a:cs typeface="Cabin" pitchFamily="34" charset="-120"/>
              </a:rPr>
              <a:t>Logarithmic transformation helps satisfy assumptions of many statistical and machine learning models, leading to better fit and accuracy.</a:t>
            </a:r>
            <a:endParaRPr lang="en-US" sz="1500" dirty="0">
              <a:latin typeface="Abadi" panose="020B0604020104020204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7411998" y="6135648"/>
            <a:ext cx="6541056" cy="1407081"/>
          </a:xfrm>
          <a:prstGeom prst="roundRect">
            <a:avLst>
              <a:gd name="adj" fmla="val 2064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605474" y="6329124"/>
            <a:ext cx="2277308" cy="284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Interpretability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7605474" y="6729889"/>
            <a:ext cx="6154103" cy="619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Abadi" panose="020B0604020104020204" pitchFamily="34" charset="0"/>
                <a:ea typeface="Cabin" pitchFamily="34" charset="-122"/>
                <a:cs typeface="Cabin" pitchFamily="34" charset="-120"/>
              </a:rPr>
              <a:t>The transformed data can also be more interpretable, as the logarithmic scale provides a natural way to understand multiplicative relationships.</a:t>
            </a:r>
            <a:endParaRPr lang="en-US" sz="1500" dirty="0">
              <a:latin typeface="Abadi" panose="020B0604020104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8072" y="781288"/>
            <a:ext cx="7607856" cy="1936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050"/>
              </a:lnSpc>
              <a:buNone/>
            </a:pPr>
            <a:r>
              <a:rPr lang="en-US" sz="40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Square Root Transformation: Normalizing Data</a:t>
            </a:r>
            <a:endParaRPr lang="en-US" sz="4050" dirty="0"/>
          </a:p>
        </p:txBody>
      </p:sp>
      <p:sp>
        <p:nvSpPr>
          <p:cNvPr id="4" name="Shape 1"/>
          <p:cNvSpPr/>
          <p:nvPr/>
        </p:nvSpPr>
        <p:spPr>
          <a:xfrm>
            <a:off x="768072" y="3293507"/>
            <a:ext cx="493752" cy="493752"/>
          </a:xfrm>
          <a:prstGeom prst="roundRect">
            <a:avLst>
              <a:gd name="adj" fmla="val 6667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941903" y="3385423"/>
            <a:ext cx="145971" cy="309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481257" y="3293507"/>
            <a:ext cx="2981087" cy="645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Normalization Needs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481257" y="4070628"/>
            <a:ext cx="2981087" cy="1754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Many machine learning algorithms assume the data follows a normal distribution, which is not always the case in real-world datasets.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681776" y="3293507"/>
            <a:ext cx="493752" cy="493752"/>
          </a:xfrm>
          <a:prstGeom prst="roundRect">
            <a:avLst>
              <a:gd name="adj" fmla="val 6667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806434" y="3385423"/>
            <a:ext cx="244435" cy="309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5394960" y="3293507"/>
            <a:ext cx="2981087" cy="645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Square Root Transformation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5394960" y="4070628"/>
            <a:ext cx="2981087" cy="1754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This technique applies the square root function to the data, reducing skewness and bringing the distribution closer to normal.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68072" y="6291858"/>
            <a:ext cx="493752" cy="493752"/>
          </a:xfrm>
          <a:prstGeom prst="roundRect">
            <a:avLst>
              <a:gd name="adj" fmla="val 6667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90349" y="6383774"/>
            <a:ext cx="249198" cy="309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1481257" y="6291858"/>
            <a:ext cx="4580573" cy="322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Improved Model Performance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481257" y="6746200"/>
            <a:ext cx="6894671" cy="701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Normalized data helps ensure the assumptions of linear models are met, leading to better fit and prediction accuracy.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8408" y="607100"/>
            <a:ext cx="7947184" cy="1508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95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Rounding and Floor Division: Discretizing Continuous Features</a:t>
            </a:r>
            <a:endParaRPr lang="en-US" sz="31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408" y="2371963"/>
            <a:ext cx="427434" cy="42743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8408" y="2970371"/>
            <a:ext cx="2011561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Rounding</a:t>
            </a:r>
            <a:endParaRPr lang="en-US" sz="1550" dirty="0"/>
          </a:p>
        </p:txBody>
      </p:sp>
      <p:sp>
        <p:nvSpPr>
          <p:cNvPr id="6" name="Text 2"/>
          <p:cNvSpPr/>
          <p:nvPr/>
        </p:nvSpPr>
        <p:spPr>
          <a:xfrm>
            <a:off x="598408" y="3324344"/>
            <a:ext cx="7947184" cy="546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Rounds continuous values to the nearest discrete value, reducing the number of unique values and improving model interpretability.</a:t>
            </a:r>
            <a:endParaRPr lang="en-US" sz="13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408" y="4384238"/>
            <a:ext cx="427434" cy="42743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98408" y="4982647"/>
            <a:ext cx="2011561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Floor Division</a:t>
            </a:r>
            <a:endParaRPr lang="en-US" sz="1550" dirty="0"/>
          </a:p>
        </p:txBody>
      </p:sp>
      <p:sp>
        <p:nvSpPr>
          <p:cNvPr id="9" name="Text 4"/>
          <p:cNvSpPr/>
          <p:nvPr/>
        </p:nvSpPr>
        <p:spPr>
          <a:xfrm>
            <a:off x="598408" y="5336619"/>
            <a:ext cx="7947184" cy="273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Divides continuous values by a fixed interval and returns the integer part, effectively discretizing the feature.</a:t>
            </a:r>
            <a:endParaRPr lang="en-US" sz="13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408" y="6123027"/>
            <a:ext cx="427434" cy="42743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98408" y="6721435"/>
            <a:ext cx="2011561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Discretization</a:t>
            </a:r>
            <a:endParaRPr lang="en-US" sz="1550" dirty="0"/>
          </a:p>
        </p:txBody>
      </p:sp>
      <p:sp>
        <p:nvSpPr>
          <p:cNvPr id="12" name="Text 6"/>
          <p:cNvSpPr/>
          <p:nvPr/>
        </p:nvSpPr>
        <p:spPr>
          <a:xfrm>
            <a:off x="598408" y="7075408"/>
            <a:ext cx="7947184" cy="546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These techniques convert continuous features into discrete bins, which can be more suitable for certain machine learning models.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45137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6395" y="2990612"/>
            <a:ext cx="8771573" cy="5768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5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Augmentation Techniques for AI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686395" y="5777508"/>
            <a:ext cx="13257609" cy="22860"/>
          </a:xfrm>
          <a:prstGeom prst="roundRect">
            <a:avLst>
              <a:gd name="adj" fmla="val 128686"/>
            </a:avLst>
          </a:prstGeom>
          <a:solidFill>
            <a:srgbClr val="4960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3940254" y="5091112"/>
            <a:ext cx="22860" cy="686395"/>
          </a:xfrm>
          <a:prstGeom prst="roundRect">
            <a:avLst>
              <a:gd name="adj" fmla="val 128686"/>
            </a:avLst>
          </a:prstGeom>
          <a:solidFill>
            <a:srgbClr val="4960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731062" y="5556885"/>
            <a:ext cx="441246" cy="441246"/>
          </a:xfrm>
          <a:prstGeom prst="roundRect">
            <a:avLst>
              <a:gd name="adj" fmla="val 6667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886438" y="5639038"/>
            <a:ext cx="130493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2582942" y="3861554"/>
            <a:ext cx="2737604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 Augmentation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82491" y="4267557"/>
            <a:ext cx="6138505" cy="627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Generating new, synthetic training samples to increase the diversity and size of the dataset.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303651" y="5777508"/>
            <a:ext cx="22860" cy="686395"/>
          </a:xfrm>
          <a:prstGeom prst="roundRect">
            <a:avLst>
              <a:gd name="adj" fmla="val 128686"/>
            </a:avLst>
          </a:prstGeom>
          <a:solidFill>
            <a:srgbClr val="4960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094458" y="5556885"/>
            <a:ext cx="441246" cy="441246"/>
          </a:xfrm>
          <a:prstGeom prst="roundRect">
            <a:avLst>
              <a:gd name="adj" fmla="val 6667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205782" y="5639038"/>
            <a:ext cx="21848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2150" dirty="0"/>
          </a:p>
        </p:txBody>
      </p:sp>
      <p:sp>
        <p:nvSpPr>
          <p:cNvPr id="13" name="Text 10"/>
          <p:cNvSpPr/>
          <p:nvPr/>
        </p:nvSpPr>
        <p:spPr>
          <a:xfrm>
            <a:off x="6161484" y="6659999"/>
            <a:ext cx="2307193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Regularization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245888" y="7066002"/>
            <a:ext cx="6138505" cy="627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Applying techniques like dropout and weight decay to prevent overfitting and improve model generalization.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10667167" y="5091112"/>
            <a:ext cx="22860" cy="686395"/>
          </a:xfrm>
          <a:prstGeom prst="roundRect">
            <a:avLst>
              <a:gd name="adj" fmla="val 128686"/>
            </a:avLst>
          </a:prstGeom>
          <a:solidFill>
            <a:srgbClr val="4960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10457974" y="5556885"/>
            <a:ext cx="441246" cy="441246"/>
          </a:xfrm>
          <a:prstGeom prst="roundRect">
            <a:avLst>
              <a:gd name="adj" fmla="val 6667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0567273" y="5639038"/>
            <a:ext cx="222647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2150" dirty="0"/>
          </a:p>
        </p:txBody>
      </p:sp>
      <p:sp>
        <p:nvSpPr>
          <p:cNvPr id="18" name="Text 15"/>
          <p:cNvSpPr/>
          <p:nvPr/>
        </p:nvSpPr>
        <p:spPr>
          <a:xfrm>
            <a:off x="9458682" y="3861554"/>
            <a:ext cx="2439829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Transfer Learning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609284" y="4267557"/>
            <a:ext cx="6138624" cy="627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Leveraging pre-trained models to initialize model weights and fine-tune on a specific task or dataset.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9233" y="787122"/>
            <a:ext cx="7618333" cy="1923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 Shuffling: Randomizing the Dataset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6249233" y="3037522"/>
            <a:ext cx="3700224" cy="2602468"/>
          </a:xfrm>
          <a:prstGeom prst="roundRect">
            <a:avLst>
              <a:gd name="adj" fmla="val 1256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67118" y="3255407"/>
            <a:ext cx="3264456" cy="641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Importance of Randomization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467118" y="4027170"/>
            <a:ext cx="3264456" cy="1394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Shuffling the dataset ensures that the training, validation, and test sets are representative of the overall data distribution.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10167342" y="3037522"/>
            <a:ext cx="3700224" cy="2602468"/>
          </a:xfrm>
          <a:prstGeom prst="roundRect">
            <a:avLst>
              <a:gd name="adj" fmla="val 1256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0385227" y="3255407"/>
            <a:ext cx="2735937" cy="320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Preventing Biases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0385227" y="3706654"/>
            <a:ext cx="3264456" cy="1394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Unshuffled data can lead to biases in model training and evaluation, compromising the model's performance and generalization.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249233" y="5857875"/>
            <a:ext cx="7618333" cy="1584484"/>
          </a:xfrm>
          <a:prstGeom prst="roundRect">
            <a:avLst>
              <a:gd name="adj" fmla="val 2064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467118" y="6075759"/>
            <a:ext cx="3735229" cy="320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Improved Generalization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467118" y="6527006"/>
            <a:ext cx="7182564" cy="697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Abadi" panose="020B0604020104020204" pitchFamily="34" charset="0"/>
                <a:ea typeface="Cabin" pitchFamily="34" charset="-122"/>
                <a:cs typeface="Cabin" pitchFamily="34" charset="-120"/>
              </a:rPr>
              <a:t>Data shuffling helps the model learn more robust and generalizable patterns, improving its ability to make accurate predictions on new, unseen data.</a:t>
            </a:r>
            <a:endParaRPr lang="en-US" sz="1700" dirty="0">
              <a:latin typeface="Abadi" panose="020B0604020104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3305" y="568285"/>
            <a:ext cx="7697391" cy="1823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75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 Splitting: Separating Training and Evaluation Sets</a:t>
            </a:r>
            <a:endParaRPr lang="en-US" sz="38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305" y="2701647"/>
            <a:ext cx="1033224" cy="165318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066449" y="2908221"/>
            <a:ext cx="2431256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Training Set</a:t>
            </a:r>
            <a:endParaRPr lang="en-US" sz="1900" dirty="0"/>
          </a:p>
        </p:txBody>
      </p:sp>
      <p:sp>
        <p:nvSpPr>
          <p:cNvPr id="6" name="Text 2"/>
          <p:cNvSpPr/>
          <p:nvPr/>
        </p:nvSpPr>
        <p:spPr>
          <a:xfrm>
            <a:off x="2066449" y="3336012"/>
            <a:ext cx="6354247" cy="66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largest portion of the dataset used to train the machine learning model.</a:t>
            </a:r>
            <a:endParaRPr lang="en-US" sz="16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305" y="4354830"/>
            <a:ext cx="1033224" cy="165318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066449" y="4561403"/>
            <a:ext cx="2431256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Validation Set</a:t>
            </a:r>
            <a:endParaRPr lang="en-US" sz="1900" dirty="0"/>
          </a:p>
        </p:txBody>
      </p:sp>
      <p:sp>
        <p:nvSpPr>
          <p:cNvPr id="9" name="Text 4"/>
          <p:cNvSpPr/>
          <p:nvPr/>
        </p:nvSpPr>
        <p:spPr>
          <a:xfrm>
            <a:off x="2066449" y="4989195"/>
            <a:ext cx="6354247" cy="66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 smaller set used to tune hyperparameters and monitor model performance during training.</a:t>
            </a:r>
            <a:endParaRPr lang="en-US" sz="16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305" y="6008013"/>
            <a:ext cx="1033224" cy="165318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066449" y="6214586"/>
            <a:ext cx="2431256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Test Set</a:t>
            </a:r>
            <a:endParaRPr lang="en-US" sz="1900" dirty="0"/>
          </a:p>
        </p:txBody>
      </p:sp>
      <p:sp>
        <p:nvSpPr>
          <p:cNvPr id="12" name="Text 6"/>
          <p:cNvSpPr/>
          <p:nvPr/>
        </p:nvSpPr>
        <p:spPr>
          <a:xfrm>
            <a:off x="2066449" y="6642378"/>
            <a:ext cx="6354247" cy="66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 held-out set used to evaluate the final model's performance on unseen data.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3762732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Any Questions?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576</Words>
  <Application>Microsoft Office PowerPoint</Application>
  <PresentationFormat>Custom</PresentationFormat>
  <Paragraphs>71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Abadi</vt:lpstr>
      <vt:lpstr>Unbounded</vt:lpstr>
      <vt:lpstr>Cabin</vt:lpstr>
      <vt:lpstr>ADLaM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Kumail Haider</cp:lastModifiedBy>
  <cp:revision>9</cp:revision>
  <dcterms:created xsi:type="dcterms:W3CDTF">2024-11-13T07:28:06Z</dcterms:created>
  <dcterms:modified xsi:type="dcterms:W3CDTF">2024-11-13T08:40:11Z</dcterms:modified>
</cp:coreProperties>
</file>